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7315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MUDI GROUP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RESTRUCTURING PROPOSAL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Mainland LLC  •  Local Sponsor (51/49)  •  DED Licensed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February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GROUP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structure before restructuring — MUDITEL as parent entity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91840" y="12801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920240"/>
            <a:ext cx="0" cy="4572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2377440"/>
            <a:ext cx="768096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2377440"/>
            <a:ext cx="0" cy="27432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74320" y="2651760"/>
            <a:ext cx="15544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74320" y="2651760"/>
            <a:ext cx="54864" cy="8229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84048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MUDILOG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solutions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79192" y="2377440"/>
            <a:ext cx="0" cy="27432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993392" y="2651760"/>
            <a:ext cx="15544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993392" y="265176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03120" y="2697480"/>
            <a:ext cx="1371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l">
              <a:buNone/>
            </a:pPr>
            <a:r>
              <a:rPr sz="1000" b="1">
                <a:solidFill>
                  <a:srgbClr val="1F2937"/>
                </a:solidFill>
                <a:latin typeface="Calibri"/>
              </a:rPr>
              <a:t>MUDISERVE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3017520"/>
            <a:ext cx="1371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l">
              <a:buNone/>
            </a:pPr>
            <a:r>
              <a:rPr sz="900" b="0">
                <a:solidFill>
                  <a:srgbClr val="64748B"/>
                </a:solidFill>
                <a:latin typeface="Calibri"/>
              </a:rPr>
              <a:t>Professional services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98264" y="2377440"/>
            <a:ext cx="0" cy="27432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712464" y="2651760"/>
            <a:ext cx="15544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712464" y="2651760"/>
            <a:ext cx="54864" cy="8229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822192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MUDICARE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22192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equipment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17336" y="2377440"/>
            <a:ext cx="0" cy="27432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31536" y="2651760"/>
            <a:ext cx="15544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431536" y="2651760"/>
            <a:ext cx="54864" cy="82296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541264" y="2697480"/>
            <a:ext cx="1371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l">
              <a:buNone/>
            </a:pPr>
            <a:r>
              <a:rPr sz="1000" b="1">
                <a:solidFill>
                  <a:srgbClr val="1F2937"/>
                </a:solidFill>
                <a:latin typeface="Calibri"/>
              </a:rPr>
              <a:t>MUDITEK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41264" y="3017520"/>
            <a:ext cx="1371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l">
              <a:buNone/>
            </a:pPr>
            <a:r>
              <a:rPr sz="900" b="0">
                <a:solidFill>
                  <a:srgbClr val="64748B"/>
                </a:solidFill>
                <a:latin typeface="Calibri"/>
              </a:rPr>
              <a:t>AI + hardware</a:t>
            </a:r>
            <a:endParaRPr lang="en-US" sz="900" dirty="0"/>
          </a:p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(planned)</a:t>
            </a:r>
          </a:p>
        </p:txBody>
      </p:sp>
      <p:sp>
        <p:nvSpPr>
          <p:cNvPr id="28" name="Shape 26"/>
          <p:cNvSpPr/>
          <p:nvPr/>
        </p:nvSpPr>
        <p:spPr>
          <a:xfrm>
            <a:off x="7836408" y="2377440"/>
            <a:ext cx="0" cy="27432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150608" y="2651760"/>
            <a:ext cx="1554480" cy="82296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150608" y="2651760"/>
            <a:ext cx="54864" cy="822960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260336" y="2697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60336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technologies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836408" y="3474720"/>
            <a:ext cx="0" cy="320040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876288" y="3794760"/>
            <a:ext cx="2103120" cy="0"/>
          </a:xfrm>
          <a:prstGeom prst="line">
            <a:avLst/>
          </a:prstGeom>
          <a:noFill/>
          <a:ln w="19050">
            <a:solidFill>
              <a:srgbClr val="9333EA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150608" y="3794760"/>
            <a:ext cx="0" cy="182880"/>
          </a:xfrm>
          <a:prstGeom prst="line">
            <a:avLst/>
          </a:prstGeom>
          <a:noFill/>
          <a:ln w="12700">
            <a:solidFill>
              <a:srgbClr val="9333EA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876288" y="3977640"/>
            <a:ext cx="6400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876288" y="3977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 Dubai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927848" y="3794760"/>
            <a:ext cx="0" cy="182880"/>
          </a:xfrm>
          <a:prstGeom prst="line">
            <a:avLst/>
          </a:prstGeom>
          <a:noFill/>
          <a:ln w="12700">
            <a:solidFill>
              <a:srgbClr val="9333EA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653528" y="3977640"/>
            <a:ext cx="6400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653528" y="3977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Ivory Coast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705088" y="3794760"/>
            <a:ext cx="0" cy="182880"/>
          </a:xfrm>
          <a:prstGeom prst="line">
            <a:avLst/>
          </a:prstGeom>
          <a:noFill/>
          <a:ln w="12700">
            <a:solidFill>
              <a:srgbClr val="9333EA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430768" y="3977640"/>
            <a:ext cx="64008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9333E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430768" y="397764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Senegal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MUDI branded  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Non-MUDI   </a:t>
            </a:r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Non-MUDI   </a:t>
            </a:r>
            <a:pPr indent="0" marL="0">
              <a:buNone/>
            </a:pPr>
            <a:r>
              <a:rPr lang="en-US" sz="1000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MUDI + Regional ops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Mainland LLC  •  Local Sponsor (51/49)  •  DED Licensed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13258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46120" y="1234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 GROUP HOLDING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Mainland LLC  •  DED Trade License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0" y="1188720"/>
            <a:ext cx="2011680" cy="91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F59E0B"/>
            </a:solidFill>
            <a:prstDash val="dash"/>
          </a:ln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2801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06640" y="1234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Sponsor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04088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nominal share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profit rights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operational control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only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6309360" y="1645920"/>
            <a:ext cx="5486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4572000" y="1965960"/>
            <a:ext cx="0" cy="5943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77240" y="2560320"/>
            <a:ext cx="7680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1051560" y="256032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6324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576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MUDILOG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6576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834640" y="256032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3063240"/>
            <a:ext cx="640080" cy="6400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4884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MUDICARE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214884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617720" y="256032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063240"/>
            <a:ext cx="640080" cy="6400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93192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393192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400800" y="2560320"/>
            <a:ext cx="0" cy="365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3063240"/>
            <a:ext cx="640080" cy="6400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7150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MUDISERVE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71500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 retains regional operations: Dubai  •  Ivory Coast  •  Senegal</a:t>
            </a:r>
            <a:endParaRPr lang="en-US" sz="1000" dirty="0"/>
          </a:p>
        </p:txBody>
      </p:sp>
      <p:sp>
        <p:nvSpPr>
          <p:cNvPr id="30" name="Rectangle 29"/>
          <p:cNvSpPr/>
          <p:nvPr/>
        </p:nvSpPr>
        <p:spPr>
          <a:xfrm>
            <a:off x="8183880" y="2560320"/>
            <a:ext cx="0" cy="365760"/>
          </a:xfrm>
          <a:prstGeom prst="rect">
            <a:avLst/>
          </a:prstGeom>
          <a:noFill/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63840" y="3063240"/>
            <a:ext cx="640080" cy="64008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200">
                <a:solidFill>
                  <a:srgbClr val="FFFFFF"/>
                </a:solidFill>
              </a:rPr>
              <a:t>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7490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MUDITEK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0" y="402336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AI Solutions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(Planned)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SPONSOR STRUCTURE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Mainland LLC — 51/49 ownership with full operational control retained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BREAKDOWN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Local Sponsor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 shares — nominal only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391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Commercial Companies Law requires a UAE national holding 51%. Sponsor signs MOA waiving all rights to profits and management decisions.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Founder (Foreign Investor)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shares — effective 100% control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of Attorney (POA) grants full authority over banking, contracts, hiring, and all operational decisions. Sponsor receives a flat annual fee only.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Economic Development (DED)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mainland trade license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1422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under Dubai DED. No geographical restrictions within the UAE. Can trade anywhere, bid on government contracts, unlimited visa capacity.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PROTECTIONS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600200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12080" y="15819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 Side Agreement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21208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legally waives all profit rights, management, and decision-making. Enforceable in UAE courts.</a:t>
            </a:r>
            <a:endParaRPr lang="en-US" sz="8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48840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12080" y="21305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Operational Control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21208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 to General Manager covers all business, banking, legal, and HR decisions without sponsor approval.</a:t>
            </a:r>
            <a:endParaRPr lang="en-US" sz="8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69748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267919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Unrestricted UAE Trade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212080" y="2880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and B2C anywhere in the UAE. No distributor required. No zone restrictions.</a:t>
            </a:r>
            <a:endParaRPr lang="en-US" sz="8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2461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12080" y="32278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Profit Repatriation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212080" y="34290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profits belong to foreign investor. No sharing with sponsor. Legally binding via MOA.</a:t>
            </a:r>
            <a:endParaRPr lang="en-US" sz="8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79476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37764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Eligible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21208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Mainland companies can bid for government tenders and public sector contracts.</a:t>
            </a:r>
            <a:endParaRPr lang="en-US" sz="85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3434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212080" y="43251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Fee — No Equity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5212080" y="4526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10K–30K/year flat fee. No profit share. No operational involvement.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MUDILOG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logistics solutions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Mudilog provides tailored logistics solutions, ensuring efficient, secure, and timely delivery for your global business needs.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963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468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transportation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5351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2926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management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1071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optimization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67912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840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solutions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MUDICARE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trusted partner in healthcare excellence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commitment to quality, we supply a comprehensive range of medical materials, ensuring precision and safety in diagnostics, treatment, and patient care. Elevate your medical practice with our innovative and reliable solutions, dedicated to advancing healthcare outcomes.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63347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606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equipment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9067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instruments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547872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care solutions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05072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51560" y="3977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medical technologies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9333EA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9333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MUDITEL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technologies and innovation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LLC is a Telecom company 100% privately owned, leading Pan Middle-East &amp; African Infrastructure provider in the Telecommunications, and Energy Supply sector, delivering turnkey solutions to its clients.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OPERATIONS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560320" cy="731520"/>
          </a:xfrm>
          <a:prstGeom prst="rect">
            <a:avLst/>
          </a:prstGeom>
          <a:solidFill>
            <a:srgbClr val="F1F5F9"/>
          </a:solidFill>
          <a:ln w="19050">
            <a:solidFill>
              <a:srgbClr val="9333EA"/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06324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 Dubai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headquarters and operations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2926080"/>
            <a:ext cx="2560320" cy="731520"/>
          </a:xfrm>
          <a:prstGeom prst="rect">
            <a:avLst/>
          </a:prstGeom>
          <a:solidFill>
            <a:srgbClr val="F1F5F9"/>
          </a:solidFill>
          <a:ln w="19050">
            <a:solidFill>
              <a:srgbClr val="9333EA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306324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 Ivory Coast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70332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 operations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26480" y="2926080"/>
            <a:ext cx="2560320" cy="731520"/>
          </a:xfrm>
          <a:prstGeom prst="rect">
            <a:avLst/>
          </a:prstGeom>
          <a:solidFill>
            <a:srgbClr val="F1F5F9"/>
          </a:solidFill>
          <a:ln w="19050">
            <a:solidFill>
              <a:srgbClr val="9333EA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0632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Muditel Senegal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53796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MUDISERVE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and business support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MUDISERVE is a new entity within the MUDI Group, providing consulting, business support, and professional services. This entity consolidates the group's service capabilities under a unified MUDI brand.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09728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ENTITY</a:t>
            </a:r>
            <a:endParaRPr lang="en-US" sz="1000" dirty="0"/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  <a:latin typeface="Calibri"/>
              </a:rPr>
              <a:t>Launch-ready: entity setup and brand activation in progress.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ACCESS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164592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mudilog.com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mudilog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7V6T8S~acokjhh~v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mudicare.com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mudicare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BH!Z9zr!g4aih5se**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muditel.com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muditel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be defined]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mudiserve.com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be defined]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[To be defined]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Confidential information - Internal use only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ADIB GLOBAL (adibglobal.com) and VERDA ORGANIC (verda-organic.com) credentials archived — entities removed from group.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PORTFOLIO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presence for MUDI Group entities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37160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 GROUP HOLDING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mudigroup.com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Not reserved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 immediately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MUDILOG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mudilog.com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— logistics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mudicare.com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— medical equipment site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muditel.com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 — digital &amp; telecom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mudiserve.com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Activate — new services entity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93192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68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mudigroup.com must be reserved before DED registration. Also consider reserving muditek.com as an alias for MUDITEL.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HOLDING COMPANY NAME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names for DED registration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0058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MUDI GROUP HOLDING LLC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1417320"/>
            <a:ext cx="1463040" cy="2286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4173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"Group" signals conglomerate. "Holding" signals parent. Clean for DED registration. Broadest scope.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0116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mudigroup.com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822960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68880"/>
            <a:ext cx="54864" cy="10058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560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MUDI HOLDING LLC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0" y="2606040"/>
            <a:ext cx="1463040" cy="2286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606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Shorter, leaner. Works well as a clean parent name. Simple in legal documents.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3200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mudiholding.com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5760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MUDI INTERNATIONAL LLC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0" y="3794760"/>
            <a:ext cx="146304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794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PLAY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if cross-border operations are a priority. Signals global ambition.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3891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mudiintl.com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 COSTS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costs for holding company formation under DED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(AED)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Name Reservation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 name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 Initial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preliminary approval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MOA + Notarization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terms, side agreement, POA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 – 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License (Holding)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DED license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– 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Sponsor 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fee to UAE national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– 30,000/yr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+ Ejari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200 sq ft + Ejari certificate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15,000 – 50,000/yr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/ Consultant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Gov. liaison, attestation services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 – 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Visa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up to 3 years per visa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 – 6,000 each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FIRST-YEAR COST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0" y="4297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45,000 – 120,000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Holding Name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1887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name + reserve DED trade name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315200" y="960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75895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527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Local Sponsor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7556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UAE national. Draft MOA with side agreement and POA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0" y="1527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97280" y="2029968"/>
            <a:ext cx="75895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09397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Office + Ejari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32257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office space (min. 200 sq ft). Obtain Ejari certificate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0" y="20939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2596896"/>
            <a:ext cx="75895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660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 License Issuance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88950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documents to DED. Pay fees. Receive trade license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0" y="26609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97280" y="3163824"/>
            <a:ext cx="75895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227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Bank Account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45643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account at Emirates NBD, ADCB, Mashreq, or HSBC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0" y="32278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4–6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97280" y="3730752"/>
            <a:ext cx="75895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Subsidiaries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4023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MUDILOG, MUDICARE, MUDITEL under holding entity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0" y="3794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6–10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97280" y="4297680"/>
            <a:ext cx="75895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57200" y="4361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43616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MUDISERVE + MUDITEK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5902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new entity. Activate services operations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15200" y="4361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8–12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GROUP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BRAND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4008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 GROUP HOLDING LLC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MUDILOG  •  MUDICARE  •  MUDITEL  •  MUDISERVE  •  MUDITEK (PLANNED)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February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MUDI Group Holdings - Restructuring Proposal</dc:title>
  <dc:subject>PptxGenJS Presentation</dc:subject>
  <dc:creator>MUDI Group</dc:creator>
  <cp:lastModifiedBy>MUDI Group</cp:lastModifiedBy>
  <cp:revision>1</cp:revision>
  <dcterms:created xsi:type="dcterms:W3CDTF">2026-02-12T12:04:23Z</dcterms:created>
  <dcterms:modified xsi:type="dcterms:W3CDTF">2026-02-12T12:04:23Z</dcterms:modified>
</cp:coreProperties>
</file>